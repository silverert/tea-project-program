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naconda Wildstyle" panose="020B0604020202020204" charset="0"/>
      <p:regular r:id="rId14"/>
    </p:embeddedFont>
    <p:embeddedFont>
      <p:font typeface="Faustina" panose="020B0604020202020204" charset="0"/>
      <p:regular r:id="rId15"/>
    </p:embeddedFont>
    <p:embeddedFont>
      <p:font typeface="Faustina Bold" panose="020B0604020202020204" charset="0"/>
      <p:regular r:id="rId16"/>
    </p:embeddedFont>
    <p:embeddedFont>
      <p:font typeface="Faustina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42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36744" y="1660497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194348" y="9197096"/>
            <a:ext cx="7891354" cy="2300574"/>
          </a:xfrm>
          <a:custGeom>
            <a:avLst/>
            <a:gdLst/>
            <a:ahLst/>
            <a:cxnLst/>
            <a:rect l="l" t="t" r="r" b="b"/>
            <a:pathLst>
              <a:path w="7891354" h="2300574">
                <a:moveTo>
                  <a:pt x="0" y="0"/>
                </a:moveTo>
                <a:lnTo>
                  <a:pt x="7891354" y="0"/>
                </a:lnTo>
                <a:lnTo>
                  <a:pt x="7891354" y="2300574"/>
                </a:lnTo>
                <a:lnTo>
                  <a:pt x="0" y="23005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56105" y="6536681"/>
            <a:ext cx="6467856" cy="3654450"/>
          </a:xfrm>
          <a:custGeom>
            <a:avLst/>
            <a:gdLst/>
            <a:ahLst/>
            <a:cxnLst/>
            <a:rect l="l" t="t" r="r" b="b"/>
            <a:pathLst>
              <a:path w="6467856" h="3654450">
                <a:moveTo>
                  <a:pt x="0" y="0"/>
                </a:moveTo>
                <a:lnTo>
                  <a:pt x="6467856" y="0"/>
                </a:lnTo>
                <a:lnTo>
                  <a:pt x="6467856" y="3654450"/>
                </a:lnTo>
                <a:lnTo>
                  <a:pt x="0" y="3654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2354543" y="-448484"/>
            <a:ext cx="6653135" cy="6225556"/>
          </a:xfrm>
          <a:custGeom>
            <a:avLst/>
            <a:gdLst/>
            <a:ahLst/>
            <a:cxnLst/>
            <a:rect l="l" t="t" r="r" b="b"/>
            <a:pathLst>
              <a:path w="6653135" h="6225556">
                <a:moveTo>
                  <a:pt x="0" y="0"/>
                </a:moveTo>
                <a:lnTo>
                  <a:pt x="6653136" y="0"/>
                </a:lnTo>
                <a:lnTo>
                  <a:pt x="6653136" y="6225556"/>
                </a:lnTo>
                <a:lnTo>
                  <a:pt x="0" y="62255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464619" y="3237707"/>
            <a:ext cx="11358761" cy="253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  <a:spcBef>
                <a:spcPct val="0"/>
              </a:spcBef>
            </a:pPr>
            <a:r>
              <a:rPr lang="en-US" sz="14400">
                <a:solidFill>
                  <a:srgbClr val="000000"/>
                </a:solidFill>
                <a:latin typeface="Anaconda Wildstyle"/>
                <a:ea typeface="Anaconda Wildstyle"/>
                <a:cs typeface="Anaconda Wildstyle"/>
                <a:sym typeface="Anaconda Wildstyle"/>
              </a:rPr>
              <a:t>Phần mềm tư vấn trà</a:t>
            </a:r>
          </a:p>
        </p:txBody>
      </p:sp>
      <p:sp>
        <p:nvSpPr>
          <p:cNvPr id="14" name="Freeform 14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282659" y="5728942"/>
            <a:ext cx="400566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i="1">
                <a:solidFill>
                  <a:srgbClr val="000000"/>
                </a:solidFill>
                <a:latin typeface="Faustina Italics"/>
                <a:ea typeface="Faustina Italics"/>
                <a:cs typeface="Faustina Italics"/>
                <a:sym typeface="Faustina Italics"/>
              </a:rPr>
              <a:t>Nhóm 5 - TradaoFPT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034820" y="714375"/>
            <a:ext cx="10218361" cy="116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Danh </a:t>
            </a:r>
            <a:r>
              <a:rPr lang="en-US" sz="7200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sách</a:t>
            </a:r>
            <a:r>
              <a:rPr lang="en-US" sz="7200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thành</a:t>
            </a:r>
            <a:r>
              <a:rPr lang="en-US" sz="7200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viên</a:t>
            </a:r>
            <a:endParaRPr lang="en-US" sz="7200" b="1" dirty="0">
              <a:solidFill>
                <a:srgbClr val="000000"/>
              </a:solidFill>
              <a:latin typeface="Faustina Bold"/>
              <a:ea typeface="Faustina Bold"/>
              <a:cs typeface="Faustina Bold"/>
              <a:sym typeface="Faustina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05868" y="2553988"/>
            <a:ext cx="14476264" cy="10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Trần Huy Hoàng - HE211112 - Code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chính</a:t>
            </a:r>
            <a:endParaRPr lang="en-US" sz="6399" dirty="0">
              <a:solidFill>
                <a:srgbClr val="000000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48365" y="4117080"/>
            <a:ext cx="16591271" cy="10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Nguyễn Xuân Giang - HE210701 - Nhập dữ liệu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8331" y="5680172"/>
            <a:ext cx="16131338" cy="10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Lương Trọng Nghĩa - HE211150 - Nhập dữ liệu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3335" y="7243264"/>
            <a:ext cx="15441330" cy="10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Đặng Thành Long - HE211669 - Power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188497" y="4338729"/>
            <a:ext cx="13911007" cy="1609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I. </a:t>
            </a:r>
            <a:r>
              <a:rPr lang="en-US" sz="9999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Các</a:t>
            </a:r>
            <a:r>
              <a:rPr lang="en-US" sz="9999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9999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chức</a:t>
            </a:r>
            <a:r>
              <a:rPr lang="en-US" sz="9999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9999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năng</a:t>
            </a:r>
            <a:r>
              <a:rPr lang="en-US" sz="9999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9999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cơ</a:t>
            </a:r>
            <a:r>
              <a:rPr lang="en-US" sz="9999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9999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bản</a:t>
            </a:r>
            <a:endParaRPr lang="en-US" sz="9999" b="1" dirty="0">
              <a:solidFill>
                <a:srgbClr val="000000"/>
              </a:solidFill>
              <a:latin typeface="Faustina Bold"/>
              <a:ea typeface="Faustina Bold"/>
              <a:cs typeface="Faustina Bold"/>
              <a:sym typeface="Faustina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941707" y="1231199"/>
            <a:ext cx="14489282" cy="9055801"/>
          </a:xfrm>
          <a:custGeom>
            <a:avLst/>
            <a:gdLst/>
            <a:ahLst/>
            <a:cxnLst/>
            <a:rect l="l" t="t" r="r" b="b"/>
            <a:pathLst>
              <a:path w="14489282" h="9055801">
                <a:moveTo>
                  <a:pt x="0" y="0"/>
                </a:moveTo>
                <a:lnTo>
                  <a:pt x="14489282" y="0"/>
                </a:lnTo>
                <a:lnTo>
                  <a:pt x="14489282" y="9055801"/>
                </a:lnTo>
                <a:lnTo>
                  <a:pt x="0" y="90558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91511" y="136459"/>
            <a:ext cx="10709889" cy="10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381759" lvl="1" indent="-690880" algn="l">
              <a:lnSpc>
                <a:spcPts val="8959"/>
              </a:lnSpc>
              <a:spcBef>
                <a:spcPct val="0"/>
              </a:spcBef>
              <a:buAutoNum type="arabicPeriod"/>
            </a:pP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Truy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xuất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kho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dữ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liệu</a:t>
            </a:r>
            <a:endParaRPr lang="en-US" sz="6399" dirty="0">
              <a:solidFill>
                <a:srgbClr val="000000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58111" y="1464119"/>
            <a:ext cx="14856473" cy="9285296"/>
          </a:xfrm>
          <a:custGeom>
            <a:avLst/>
            <a:gdLst/>
            <a:ahLst/>
            <a:cxnLst/>
            <a:rect l="l" t="t" r="r" b="b"/>
            <a:pathLst>
              <a:path w="14856473" h="9285296">
                <a:moveTo>
                  <a:pt x="0" y="0"/>
                </a:moveTo>
                <a:lnTo>
                  <a:pt x="14856473" y="0"/>
                </a:lnTo>
                <a:lnTo>
                  <a:pt x="14856473" y="9285296"/>
                </a:lnTo>
                <a:lnTo>
                  <a:pt x="0" y="92852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27569" y="299720"/>
            <a:ext cx="12631231" cy="10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9" lvl="1" algn="l">
              <a:lnSpc>
                <a:spcPts val="8959"/>
              </a:lnSpc>
              <a:spcBef>
                <a:spcPct val="0"/>
              </a:spcBef>
            </a:pP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2.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Tư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vấn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loại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ấm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phù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hợp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với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trà</a:t>
            </a:r>
            <a:endParaRPr lang="en-US" sz="6399" dirty="0">
              <a:solidFill>
                <a:srgbClr val="000000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03317" y="1456340"/>
            <a:ext cx="14881366" cy="9300854"/>
          </a:xfrm>
          <a:custGeom>
            <a:avLst/>
            <a:gdLst/>
            <a:ahLst/>
            <a:cxnLst/>
            <a:rect l="l" t="t" r="r" b="b"/>
            <a:pathLst>
              <a:path w="14881366" h="9300854">
                <a:moveTo>
                  <a:pt x="0" y="0"/>
                </a:moveTo>
                <a:lnTo>
                  <a:pt x="14881366" y="0"/>
                </a:lnTo>
                <a:lnTo>
                  <a:pt x="14881366" y="9300854"/>
                </a:lnTo>
                <a:lnTo>
                  <a:pt x="0" y="93008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27569" y="299720"/>
            <a:ext cx="12936031" cy="10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9" lvl="1" algn="l">
              <a:lnSpc>
                <a:spcPts val="8959"/>
              </a:lnSpc>
              <a:spcBef>
                <a:spcPct val="0"/>
              </a:spcBef>
            </a:pP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2.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Tư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vấn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loại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ấm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phù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hợp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với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trà</a:t>
            </a:r>
            <a:endParaRPr lang="en-US" sz="6399" dirty="0">
              <a:solidFill>
                <a:srgbClr val="000000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32310" y="1304290"/>
            <a:ext cx="15636490" cy="9772806"/>
          </a:xfrm>
          <a:custGeom>
            <a:avLst/>
            <a:gdLst/>
            <a:ahLst/>
            <a:cxnLst/>
            <a:rect l="l" t="t" r="r" b="b"/>
            <a:pathLst>
              <a:path w="15636490" h="9772806">
                <a:moveTo>
                  <a:pt x="0" y="0"/>
                </a:moveTo>
                <a:lnTo>
                  <a:pt x="15636490" y="0"/>
                </a:lnTo>
                <a:lnTo>
                  <a:pt x="15636490" y="9772806"/>
                </a:lnTo>
                <a:lnTo>
                  <a:pt x="0" y="97728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83170" y="190500"/>
            <a:ext cx="16526273" cy="1035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algn="l">
              <a:lnSpc>
                <a:spcPts val="8959"/>
              </a:lnSpc>
              <a:spcBef>
                <a:spcPct val="0"/>
              </a:spcBef>
            </a:pP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3.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Chức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năng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của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Admin (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thêm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vào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các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loại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ấm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44521" y="1655988"/>
            <a:ext cx="15185486" cy="9490929"/>
          </a:xfrm>
          <a:custGeom>
            <a:avLst/>
            <a:gdLst/>
            <a:ahLst/>
            <a:cxnLst/>
            <a:rect l="l" t="t" r="r" b="b"/>
            <a:pathLst>
              <a:path w="15185486" h="9490929">
                <a:moveTo>
                  <a:pt x="0" y="0"/>
                </a:moveTo>
                <a:lnTo>
                  <a:pt x="15185485" y="0"/>
                </a:lnTo>
                <a:lnTo>
                  <a:pt x="15185485" y="9490929"/>
                </a:lnTo>
                <a:lnTo>
                  <a:pt x="0" y="94909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27943" y="299720"/>
            <a:ext cx="13550881" cy="10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9" lvl="1" algn="l">
              <a:lnSpc>
                <a:spcPts val="8959"/>
              </a:lnSpc>
              <a:spcBef>
                <a:spcPct val="0"/>
              </a:spcBef>
            </a:pP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4.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Đồng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hóa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dữ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liệu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trên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file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903560" y="1585702"/>
            <a:ext cx="14467407" cy="9042129"/>
          </a:xfrm>
          <a:custGeom>
            <a:avLst/>
            <a:gdLst/>
            <a:ahLst/>
            <a:cxnLst/>
            <a:rect l="l" t="t" r="r" b="b"/>
            <a:pathLst>
              <a:path w="14467407" h="9042129">
                <a:moveTo>
                  <a:pt x="0" y="0"/>
                </a:moveTo>
                <a:lnTo>
                  <a:pt x="14467407" y="0"/>
                </a:lnTo>
                <a:lnTo>
                  <a:pt x="14467407" y="9042130"/>
                </a:lnTo>
                <a:lnTo>
                  <a:pt x="0" y="90421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27708" y="299720"/>
            <a:ext cx="13873560" cy="1035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algn="l">
              <a:lnSpc>
                <a:spcPts val="8959"/>
              </a:lnSpc>
              <a:spcBef>
                <a:spcPct val="0"/>
              </a:spcBef>
            </a:pP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5.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Các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loại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trà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đang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có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trong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kho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dữ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liệu</a:t>
            </a:r>
            <a:endParaRPr lang="en-US" sz="6399" dirty="0">
              <a:solidFill>
                <a:srgbClr val="000000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19734" y="4338729"/>
            <a:ext cx="14448532" cy="1609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II. </a:t>
            </a:r>
            <a:r>
              <a:rPr lang="en-US" sz="9999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Ưu</a:t>
            </a:r>
            <a:r>
              <a:rPr lang="en-US" sz="9999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và </a:t>
            </a:r>
            <a:r>
              <a:rPr lang="en-US" sz="9999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Nhược</a:t>
            </a:r>
            <a:r>
              <a:rPr lang="en-US" sz="9999" b="1" dirty="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9999" b="1" dirty="0" err="1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điểm</a:t>
            </a:r>
            <a:endParaRPr lang="en-US" sz="9999" b="1" dirty="0">
              <a:solidFill>
                <a:srgbClr val="000000"/>
              </a:solidFill>
              <a:latin typeface="Faustina Bold"/>
              <a:ea typeface="Faustina Bold"/>
              <a:cs typeface="Faustina Bold"/>
              <a:sym typeface="Faustina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91510" y="299720"/>
            <a:ext cx="4994889" cy="10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381759" lvl="1" indent="-690880" algn="l">
              <a:lnSpc>
                <a:spcPts val="8959"/>
              </a:lnSpc>
              <a:spcBef>
                <a:spcPct val="0"/>
              </a:spcBef>
              <a:buAutoNum type="arabicPeriod"/>
            </a:pP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Ưu</a:t>
            </a:r>
            <a:r>
              <a:rPr lang="en-US" sz="6399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điểm</a:t>
            </a:r>
            <a:endParaRPr lang="en-US" sz="6399" dirty="0">
              <a:solidFill>
                <a:srgbClr val="000000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1619844"/>
            <a:ext cx="16192291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Chương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trình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giúp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tìm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kiếm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loại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ấm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phù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hợp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với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yêu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cầu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của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dùng</a:t>
            </a:r>
            <a:endParaRPr lang="en-US" sz="5000" dirty="0">
              <a:solidFill>
                <a:srgbClr val="000000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4364046"/>
            <a:ext cx="16192291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Sử dụng file CSV tải từ Google Drive dễ dàng chỉnh sửa và thêm/xóa dữ liệu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108247"/>
            <a:ext cx="16192291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Các hàm được chia thành từng phần tương ứng với chức năng, giúp dễ dàng tìm kiếm, chỉnh sửa và debug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372696" cy="10334641"/>
          </a:xfrm>
          <a:custGeom>
            <a:avLst/>
            <a:gdLst/>
            <a:ahLst/>
            <a:cxnLst/>
            <a:rect l="l" t="t" r="r" b="b"/>
            <a:pathLst>
              <a:path w="18372696" h="10334641">
                <a:moveTo>
                  <a:pt x="0" y="0"/>
                </a:moveTo>
                <a:lnTo>
                  <a:pt x="18372696" y="0"/>
                </a:lnTo>
                <a:lnTo>
                  <a:pt x="18372696" y="10334641"/>
                </a:lnTo>
                <a:lnTo>
                  <a:pt x="0" y="1033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520" y="102871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6" y="0"/>
                </a:lnTo>
                <a:lnTo>
                  <a:pt x="4409176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569" y="4350320"/>
            <a:ext cx="6446600" cy="5599039"/>
          </a:xfrm>
          <a:custGeom>
            <a:avLst/>
            <a:gdLst/>
            <a:ahLst/>
            <a:cxnLst/>
            <a:rect l="l" t="t" r="r" b="b"/>
            <a:pathLst>
              <a:path w="6446600" h="5599039">
                <a:moveTo>
                  <a:pt x="0" y="0"/>
                </a:moveTo>
                <a:lnTo>
                  <a:pt x="6446600" y="0"/>
                </a:lnTo>
                <a:lnTo>
                  <a:pt x="644660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94460"/>
            <a:ext cx="18288000" cy="8892540"/>
          </a:xfrm>
          <a:custGeom>
            <a:avLst/>
            <a:gdLst/>
            <a:ahLst/>
            <a:cxnLst/>
            <a:rect l="l" t="t" r="r" b="b"/>
            <a:pathLst>
              <a:path w="18288000" h="8892540">
                <a:moveTo>
                  <a:pt x="0" y="0"/>
                </a:moveTo>
                <a:lnTo>
                  <a:pt x="18288000" y="0"/>
                </a:lnTo>
                <a:lnTo>
                  <a:pt x="18288000" y="8892540"/>
                </a:lnTo>
                <a:lnTo>
                  <a:pt x="0" y="889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2677813"/>
            <a:ext cx="14728977" cy="7656828"/>
          </a:xfrm>
          <a:custGeom>
            <a:avLst/>
            <a:gdLst/>
            <a:ahLst/>
            <a:cxnLst/>
            <a:rect l="l" t="t" r="r" b="b"/>
            <a:pathLst>
              <a:path w="14728977" h="7656828">
                <a:moveTo>
                  <a:pt x="0" y="0"/>
                </a:moveTo>
                <a:lnTo>
                  <a:pt x="14728977" y="0"/>
                </a:lnTo>
                <a:lnTo>
                  <a:pt x="14728977" y="7656828"/>
                </a:lnTo>
                <a:lnTo>
                  <a:pt x="0" y="765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37264" y="2374811"/>
            <a:ext cx="13473" cy="5537378"/>
          </a:xfrm>
          <a:custGeom>
            <a:avLst/>
            <a:gdLst/>
            <a:ahLst/>
            <a:cxnLst/>
            <a:rect l="l" t="t" r="r" b="b"/>
            <a:pathLst>
              <a:path w="13473" h="5537378">
                <a:moveTo>
                  <a:pt x="0" y="0"/>
                </a:moveTo>
                <a:lnTo>
                  <a:pt x="13472" y="0"/>
                </a:lnTo>
                <a:lnTo>
                  <a:pt x="13472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7569" y="4350320"/>
            <a:ext cx="4409176" cy="3512894"/>
          </a:xfrm>
          <a:custGeom>
            <a:avLst/>
            <a:gdLst/>
            <a:ahLst/>
            <a:cxnLst/>
            <a:rect l="l" t="t" r="r" b="b"/>
            <a:pathLst>
              <a:path w="4409176" h="3512894">
                <a:moveTo>
                  <a:pt x="0" y="0"/>
                </a:moveTo>
                <a:lnTo>
                  <a:pt x="4409175" y="0"/>
                </a:lnTo>
                <a:lnTo>
                  <a:pt x="4409175" y="3512894"/>
                </a:lnTo>
                <a:lnTo>
                  <a:pt x="0" y="3512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86" b="-448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91511" y="299720"/>
            <a:ext cx="5560021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81759" lvl="1" indent="-690880" algn="l">
              <a:lnSpc>
                <a:spcPts val="8959"/>
              </a:lnSpc>
              <a:spcBef>
                <a:spcPct val="0"/>
              </a:spcBef>
              <a:buAutoNum type="arabicPeriod"/>
            </a:pPr>
            <a:r>
              <a:rPr lang="en-US" sz="63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Nhược điểm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875658"/>
            <a:ext cx="1619229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lọc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(filter)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vẫn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còn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hạn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chế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chỉ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ở dung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tích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và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loại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trà</a:t>
            </a:r>
            <a:endParaRPr lang="en-US" sz="5000" dirty="0">
              <a:solidFill>
                <a:srgbClr val="000000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5877680"/>
            <a:ext cx="16192291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UI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vẫn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còn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sơ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xài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nên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sử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dụng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GUI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để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dễ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dàng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dùng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tương</a:t>
            </a:r>
            <a:r>
              <a:rPr lang="en-US" sz="5000" dirty="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tác</a:t>
            </a:r>
            <a:endParaRPr lang="en-US" sz="5000" dirty="0">
              <a:solidFill>
                <a:srgbClr val="000000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</Words>
  <Application>Microsoft Office PowerPoint</Application>
  <PresentationFormat>Custom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Faustina Italics</vt:lpstr>
      <vt:lpstr>Faustina</vt:lpstr>
      <vt:lpstr>Anaconda Wildstyle</vt:lpstr>
      <vt:lpstr>Faustina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Trà đạo</dc:title>
  <cp:lastModifiedBy>Huy Hoàng Trần</cp:lastModifiedBy>
  <cp:revision>2</cp:revision>
  <dcterms:created xsi:type="dcterms:W3CDTF">2006-08-16T00:00:00Z</dcterms:created>
  <dcterms:modified xsi:type="dcterms:W3CDTF">2026-07-24T02:01:36Z</dcterms:modified>
  <dc:identifier>DAHP74YgKsw</dc:identifier>
</cp:coreProperties>
</file>